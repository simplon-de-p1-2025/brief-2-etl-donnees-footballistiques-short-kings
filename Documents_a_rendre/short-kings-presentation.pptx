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j5KUpmy+nxbQKfqDQ8cA/ERGOv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b19093dd87_3_68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" name="Google Shape;19;g3b19093dd87_3_68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19093dd87_3_76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" name="Google Shape;24;g3b19093dd87_3_7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rgbClr val="188038"/>
                </a:solidFill>
              </a:rPr>
              <a:t>1930-URUGUAY, Germany FR</a:t>
            </a:r>
            <a:r>
              <a:rPr lang="en-US" sz="1100">
                <a:solidFill>
                  <a:schemeClr val="dk1"/>
                </a:solidFill>
              </a:rPr>
              <a:t>, </a:t>
            </a:r>
            <a:r>
              <a:rPr lang="en-US" sz="1100">
                <a:solidFill>
                  <a:srgbClr val="188038"/>
                </a:solidFill>
              </a:rPr>
              <a:t>W. Germany 4-1 (3-0)</a:t>
            </a:r>
            <a:br>
              <a:rPr lang="en-US" sz="1100">
                <a:solidFill>
                  <a:srgbClr val="188038"/>
                </a:solidFill>
              </a:rPr>
            </a:br>
            <a:endParaRPr sz="1100"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rgbClr val="188038"/>
                </a:solidFill>
              </a:rPr>
              <a:t>Bsil</a:t>
            </a:r>
            <a:r>
              <a:rPr lang="en-US" sz="1100">
                <a:solidFill>
                  <a:schemeClr val="dk1"/>
                </a:solidFill>
              </a:rPr>
              <a:t>, </a:t>
            </a:r>
            <a:r>
              <a:rPr lang="en-US" sz="1100">
                <a:solidFill>
                  <a:srgbClr val="188038"/>
                </a:solidFill>
              </a:rPr>
              <a:t>Cte d'Ivoire , </a:t>
            </a:r>
            <a:r>
              <a:rPr lang="en-US" sz="1100">
                <a:solidFill>
                  <a:schemeClr val="dk1"/>
                </a:solidFill>
              </a:rPr>
              <a:t>Matchs doublés (lignes 50-81). `"rn""&gt;Bosnia"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88038"/>
                </a:solidFill>
              </a:rPr>
              <a:t>2018-06-14T18:00+03:00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19093dd87_3_56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b19093dd87_3_5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b19093dd87_3_8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b19093dd87_3_8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rgbClr val="188038"/>
                </a:solidFill>
              </a:rPr>
              <a:t>1930-URUGUAY, Germany FR</a:t>
            </a:r>
            <a:r>
              <a:rPr lang="en-US" sz="1100">
                <a:solidFill>
                  <a:schemeClr val="dk1"/>
                </a:solidFill>
              </a:rPr>
              <a:t>, </a:t>
            </a:r>
            <a:r>
              <a:rPr lang="en-US" sz="1100">
                <a:solidFill>
                  <a:srgbClr val="188038"/>
                </a:solidFill>
              </a:rPr>
              <a:t>W. Germany 4-1 (3-0)</a:t>
            </a:r>
            <a:br>
              <a:rPr lang="en-US" sz="1100">
                <a:solidFill>
                  <a:srgbClr val="188038"/>
                </a:solidFill>
              </a:rPr>
            </a:br>
            <a:endParaRPr sz="1100"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rgbClr val="188038"/>
                </a:solidFill>
              </a:rPr>
              <a:t>Bsil</a:t>
            </a:r>
            <a:r>
              <a:rPr lang="en-US" sz="1100">
                <a:solidFill>
                  <a:schemeClr val="dk1"/>
                </a:solidFill>
              </a:rPr>
              <a:t>, </a:t>
            </a:r>
            <a:r>
              <a:rPr lang="en-US" sz="1100">
                <a:solidFill>
                  <a:srgbClr val="188038"/>
                </a:solidFill>
              </a:rPr>
              <a:t>Cte d'Ivoire , </a:t>
            </a:r>
            <a:r>
              <a:rPr lang="en-US" sz="1100">
                <a:solidFill>
                  <a:schemeClr val="dk1"/>
                </a:solidFill>
              </a:rPr>
              <a:t>Matchs doublés (lignes 50-81). `"rn""&gt;Bosnia"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88038"/>
                </a:solidFill>
              </a:rPr>
              <a:t>2018-06-14T18:00+03:00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5" name="Google Shape;55;g3b19093dd87_3_8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19093dd87_4_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g3b19093dd87_4_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SzPts val="11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2" name="Google Shape;82;g3b19093dd87_4_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19093dd87_3_81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19093dd87_3_8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19093dd87_3_64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19093dd87_3_6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19093dd87_4_59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19093dd87_4_59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b19093dd87_0_73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b19093dd87_0_7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b19093dd87_0_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g3b19093dd87_0_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b19093dd87_0_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19093dd87_0_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g3b19093dd87_0_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b19093dd87_0_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19093dd87_0_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g3b19093dd87_0_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b19093dd87_0_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b19093dd87_0_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g3b19093dd87_0_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b19093dd87_0_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19093dd87_0_67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b19093dd87_0_6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b19093dd87_0_5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g3b19093dd87_0_5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b19093dd87_0_5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4" name="Google Shape;404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2791332" y="1234724"/>
            <a:ext cx="35613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PROJET ETL • FORMATION SIMPLON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2672318" y="1691504"/>
            <a:ext cx="3799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92 ans d'histoire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430127" y="2952690"/>
            <a:ext cx="2283598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du football mondial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3113462" y="3360390"/>
            <a:ext cx="2916927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réunis en une seule base de données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364666" y="4551164"/>
            <a:ext cx="166605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Short Kings • Décembre 2025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g3b19093dd87_3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611"/>
            <a:ext cx="9144001" cy="5146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g3b19093dd87_3_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/>
          <p:nvPr/>
        </p:nvSpPr>
        <p:spPr>
          <a:xfrm>
            <a:off x="285750" y="228600"/>
            <a:ext cx="6819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Client - Besoin - Positionnement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381000" y="1978525"/>
            <a:ext cx="1981200" cy="1462200"/>
          </a:xfrm>
          <a:prstGeom prst="roundRect">
            <a:avLst>
              <a:gd fmla="val 6204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4;p3"/>
          <p:cNvCxnSpPr/>
          <p:nvPr/>
        </p:nvCxnSpPr>
        <p:spPr>
          <a:xfrm>
            <a:off x="400050" y="1978521"/>
            <a:ext cx="0" cy="1474200"/>
          </a:xfrm>
          <a:prstGeom prst="straightConnector1">
            <a:avLst/>
          </a:prstGeom>
          <a:noFill/>
          <a:ln cap="flat" cmpd="sng" w="381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3"/>
          <p:cNvSpPr/>
          <p:nvPr/>
        </p:nvSpPr>
        <p:spPr>
          <a:xfrm>
            <a:off x="609600" y="2754271"/>
            <a:ext cx="1593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C9A227"/>
                </a:solidFill>
              </a:rPr>
              <a:t>90PLUS ANALYTICS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09600" y="2391817"/>
            <a:ext cx="1593342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A365D"/>
                </a:solidFill>
              </a:rPr>
              <a:t>Le client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2514600" y="1978526"/>
            <a:ext cx="1981200" cy="1462200"/>
          </a:xfrm>
          <a:prstGeom prst="roundRect">
            <a:avLst>
              <a:gd fmla="val 6204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p3"/>
          <p:cNvCxnSpPr/>
          <p:nvPr/>
        </p:nvCxnSpPr>
        <p:spPr>
          <a:xfrm>
            <a:off x="2533650" y="1978526"/>
            <a:ext cx="0" cy="1462200"/>
          </a:xfrm>
          <a:prstGeom prst="straightConnector1">
            <a:avLst/>
          </a:prstGeom>
          <a:noFill/>
          <a:ln cap="flat" cmpd="sng" w="381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3"/>
          <p:cNvSpPr/>
          <p:nvPr/>
        </p:nvSpPr>
        <p:spPr>
          <a:xfrm>
            <a:off x="2743200" y="2391817"/>
            <a:ext cx="1593342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A365D"/>
                </a:solidFill>
              </a:rPr>
              <a:t>Le besoin métier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4648200" y="1978526"/>
            <a:ext cx="1981200" cy="1462200"/>
          </a:xfrm>
          <a:prstGeom prst="roundRect">
            <a:avLst>
              <a:gd fmla="val 6204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3"/>
          <p:cNvCxnSpPr/>
          <p:nvPr/>
        </p:nvCxnSpPr>
        <p:spPr>
          <a:xfrm>
            <a:off x="4667250" y="1978526"/>
            <a:ext cx="0" cy="1462200"/>
          </a:xfrm>
          <a:prstGeom prst="straightConnector1">
            <a:avLst/>
          </a:prstGeom>
          <a:noFill/>
          <a:ln cap="flat" cmpd="sng" w="381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3"/>
          <p:cNvSpPr/>
          <p:nvPr/>
        </p:nvSpPr>
        <p:spPr>
          <a:xfrm>
            <a:off x="4851675" y="2331825"/>
            <a:ext cx="15933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825"/>
              <a:buFont typeface="Arial"/>
              <a:buNone/>
            </a:pPr>
            <a:r>
              <a:rPr i="1" lang="en-US" sz="1000">
                <a:solidFill>
                  <a:srgbClr val="999999"/>
                </a:solidFill>
              </a:rPr>
              <a:t>Quelle est la probabilité qu’une équipe gagne face à une autre, dans un contexte donné ?</a:t>
            </a:r>
            <a:endParaRPr i="1" sz="100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6781800" y="1978526"/>
            <a:ext cx="1981200" cy="1462200"/>
          </a:xfrm>
          <a:prstGeom prst="roundRect">
            <a:avLst>
              <a:gd fmla="val 6204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3"/>
          <p:cNvCxnSpPr/>
          <p:nvPr/>
        </p:nvCxnSpPr>
        <p:spPr>
          <a:xfrm>
            <a:off x="6800850" y="1978526"/>
            <a:ext cx="0" cy="1462200"/>
          </a:xfrm>
          <a:prstGeom prst="straightConnector1">
            <a:avLst/>
          </a:prstGeom>
          <a:noFill/>
          <a:ln cap="flat" cmpd="sng" w="381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3"/>
          <p:cNvSpPr/>
          <p:nvPr/>
        </p:nvSpPr>
        <p:spPr>
          <a:xfrm>
            <a:off x="7010350" y="2391821"/>
            <a:ext cx="15933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A365D"/>
                </a:solidFill>
              </a:rPr>
              <a:t>Le positionnement </a:t>
            </a:r>
            <a:endParaRPr b="1" sz="1350">
              <a:solidFill>
                <a:srgbClr val="1A365D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A365D"/>
                </a:solidFill>
              </a:rPr>
              <a:t>de notre</a:t>
            </a:r>
            <a:endParaRPr b="1" sz="1350">
              <a:solidFill>
                <a:srgbClr val="1A365D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A365D"/>
                </a:solidFill>
              </a:rPr>
              <a:t>projet</a:t>
            </a:r>
            <a:endParaRPr b="1" sz="1350">
              <a:solidFill>
                <a:srgbClr val="1A365D"/>
              </a:solidFill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2743225" y="2808871"/>
            <a:ext cx="1593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999999"/>
                </a:solidFill>
              </a:rPr>
              <a:t>Développer des modèles</a:t>
            </a:r>
            <a:endParaRPr sz="825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g3b19093dd87_3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969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19093dd87_3_85"/>
          <p:cNvSpPr/>
          <p:nvPr/>
        </p:nvSpPr>
        <p:spPr>
          <a:xfrm>
            <a:off x="285750" y="228600"/>
            <a:ext cx="4575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Nos sources de données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b19093dd87_3_85"/>
          <p:cNvSpPr/>
          <p:nvPr/>
        </p:nvSpPr>
        <p:spPr>
          <a:xfrm>
            <a:off x="381000" y="1978525"/>
            <a:ext cx="1981200" cy="1462200"/>
          </a:xfrm>
          <a:prstGeom prst="roundRect">
            <a:avLst>
              <a:gd fmla="val 6204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g3b19093dd87_3_85"/>
          <p:cNvCxnSpPr/>
          <p:nvPr/>
        </p:nvCxnSpPr>
        <p:spPr>
          <a:xfrm>
            <a:off x="400050" y="1978521"/>
            <a:ext cx="0" cy="1474200"/>
          </a:xfrm>
          <a:prstGeom prst="straightConnector1">
            <a:avLst/>
          </a:prstGeom>
          <a:noFill/>
          <a:ln cap="flat" cmpd="sng" w="381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g3b19093dd87_3_85"/>
          <p:cNvSpPr/>
          <p:nvPr/>
        </p:nvSpPr>
        <p:spPr>
          <a:xfrm>
            <a:off x="609600" y="2169021"/>
            <a:ext cx="1593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CSV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b19093dd87_3_85"/>
          <p:cNvSpPr/>
          <p:nvPr/>
        </p:nvSpPr>
        <p:spPr>
          <a:xfrm>
            <a:off x="609600" y="2391817"/>
            <a:ext cx="1593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1930-2010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b19093dd87_3_85"/>
          <p:cNvSpPr/>
          <p:nvPr/>
        </p:nvSpPr>
        <p:spPr>
          <a:xfrm>
            <a:off x="609600" y="2669825"/>
            <a:ext cx="15933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4A5568"/>
                </a:solidFill>
              </a:rPr>
              <a:t>Colonne Edition composite</a:t>
            </a:r>
            <a:br>
              <a:rPr lang="en-US" sz="975">
                <a:solidFill>
                  <a:srgbClr val="4A5568"/>
                </a:solidFill>
              </a:rPr>
            </a:br>
            <a:r>
              <a:rPr lang="en-US" sz="975">
                <a:solidFill>
                  <a:srgbClr val="4A5568"/>
                </a:solidFill>
              </a:rPr>
              <a:t>Noms d'équipes variés</a:t>
            </a:r>
            <a:br>
              <a:rPr lang="en-US" sz="975">
                <a:solidFill>
                  <a:srgbClr val="4A5568"/>
                </a:solidFill>
              </a:rPr>
            </a:br>
            <a:r>
              <a:rPr lang="en-US" sz="975">
                <a:solidFill>
                  <a:srgbClr val="4A5568"/>
                </a:solidFill>
              </a:rPr>
              <a:t>Score composite</a:t>
            </a:r>
            <a:br>
              <a:rPr lang="en-US" sz="975">
                <a:solidFill>
                  <a:srgbClr val="4A5568"/>
                </a:solidFill>
              </a:rPr>
            </a:b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b19093dd87_3_85"/>
          <p:cNvSpPr/>
          <p:nvPr/>
        </p:nvSpPr>
        <p:spPr>
          <a:xfrm>
            <a:off x="2514600" y="1978526"/>
            <a:ext cx="1981200" cy="1462200"/>
          </a:xfrm>
          <a:prstGeom prst="roundRect">
            <a:avLst>
              <a:gd fmla="val 6204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g3b19093dd87_3_85"/>
          <p:cNvCxnSpPr/>
          <p:nvPr/>
        </p:nvCxnSpPr>
        <p:spPr>
          <a:xfrm>
            <a:off x="2533650" y="1978526"/>
            <a:ext cx="0" cy="1462200"/>
          </a:xfrm>
          <a:prstGeom prst="straightConnector1">
            <a:avLst/>
          </a:prstGeom>
          <a:noFill/>
          <a:ln cap="flat" cmpd="sng" w="381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g3b19093dd87_3_85"/>
          <p:cNvSpPr/>
          <p:nvPr/>
        </p:nvSpPr>
        <p:spPr>
          <a:xfrm>
            <a:off x="2743200" y="2169021"/>
            <a:ext cx="1593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CSV MALFORMÉ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b19093dd87_3_85"/>
          <p:cNvSpPr/>
          <p:nvPr/>
        </p:nvSpPr>
        <p:spPr>
          <a:xfrm>
            <a:off x="2743200" y="2391817"/>
            <a:ext cx="1593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2014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b19093dd87_3_85"/>
          <p:cNvSpPr/>
          <p:nvPr/>
        </p:nvSpPr>
        <p:spPr>
          <a:xfrm>
            <a:off x="2743200" y="2669822"/>
            <a:ext cx="15933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4A5568"/>
                </a:solidFill>
              </a:rPr>
              <a:t>Caractères corrompus</a:t>
            </a:r>
            <a:br>
              <a:rPr lang="en-US" sz="975">
                <a:solidFill>
                  <a:srgbClr val="4A5568"/>
                </a:solidFill>
              </a:rPr>
            </a:br>
            <a:r>
              <a:rPr lang="en-US" sz="975">
                <a:solidFill>
                  <a:srgbClr val="4A5568"/>
                </a:solidFill>
              </a:rPr>
              <a:t>Lignes dupliquées</a:t>
            </a:r>
            <a:endParaRPr sz="975">
              <a:solidFill>
                <a:srgbClr val="4A5568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4A5568"/>
                </a:solidFill>
              </a:rPr>
              <a:t>Décalage de colonnes</a:t>
            </a:r>
            <a:endParaRPr sz="975">
              <a:solidFill>
                <a:srgbClr val="4A5568"/>
              </a:solidFill>
            </a:endParaRPr>
          </a:p>
        </p:txBody>
      </p:sp>
      <p:sp>
        <p:nvSpPr>
          <p:cNvPr id="68" name="Google Shape;68;g3b19093dd87_3_85"/>
          <p:cNvSpPr/>
          <p:nvPr/>
        </p:nvSpPr>
        <p:spPr>
          <a:xfrm>
            <a:off x="4648200" y="1978526"/>
            <a:ext cx="1981200" cy="1462200"/>
          </a:xfrm>
          <a:prstGeom prst="roundRect">
            <a:avLst>
              <a:gd fmla="val 6204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g3b19093dd87_3_85"/>
          <p:cNvCxnSpPr/>
          <p:nvPr/>
        </p:nvCxnSpPr>
        <p:spPr>
          <a:xfrm>
            <a:off x="4667250" y="1978526"/>
            <a:ext cx="0" cy="1462200"/>
          </a:xfrm>
          <a:prstGeom prst="straightConnector1">
            <a:avLst/>
          </a:prstGeom>
          <a:noFill/>
          <a:ln cap="flat" cmpd="sng" w="381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g3b19093dd87_3_85"/>
          <p:cNvSpPr/>
          <p:nvPr/>
        </p:nvSpPr>
        <p:spPr>
          <a:xfrm>
            <a:off x="4876800" y="2169021"/>
            <a:ext cx="1593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JSON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b19093dd87_3_85"/>
          <p:cNvSpPr/>
          <p:nvPr/>
        </p:nvSpPr>
        <p:spPr>
          <a:xfrm>
            <a:off x="4876800" y="2391817"/>
            <a:ext cx="1593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2018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b19093dd87_3_85"/>
          <p:cNvSpPr/>
          <p:nvPr/>
        </p:nvSpPr>
        <p:spPr>
          <a:xfrm>
            <a:off x="4876800" y="2669822"/>
            <a:ext cx="15933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4A5568"/>
                </a:solidFill>
              </a:rPr>
              <a:t>Dates avec Timezone</a:t>
            </a:r>
            <a:endParaRPr sz="975">
              <a:solidFill>
                <a:srgbClr val="4A5568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4A5568"/>
                </a:solidFill>
              </a:rPr>
              <a:t>Absence "Vainqueur"</a:t>
            </a:r>
            <a:endParaRPr sz="975">
              <a:solidFill>
                <a:srgbClr val="4A5568"/>
              </a:solidFill>
            </a:endParaRPr>
          </a:p>
        </p:txBody>
      </p:sp>
      <p:sp>
        <p:nvSpPr>
          <p:cNvPr id="73" name="Google Shape;73;g3b19093dd87_3_85"/>
          <p:cNvSpPr/>
          <p:nvPr/>
        </p:nvSpPr>
        <p:spPr>
          <a:xfrm>
            <a:off x="6781800" y="1978526"/>
            <a:ext cx="1981200" cy="1462200"/>
          </a:xfrm>
          <a:prstGeom prst="roundRect">
            <a:avLst>
              <a:gd fmla="val 6204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g3b19093dd87_3_85"/>
          <p:cNvCxnSpPr/>
          <p:nvPr/>
        </p:nvCxnSpPr>
        <p:spPr>
          <a:xfrm>
            <a:off x="6800850" y="1978526"/>
            <a:ext cx="0" cy="1462200"/>
          </a:xfrm>
          <a:prstGeom prst="straightConnector1">
            <a:avLst/>
          </a:prstGeom>
          <a:noFill/>
          <a:ln cap="flat" cmpd="sng" w="381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g3b19093dd87_3_85"/>
          <p:cNvSpPr/>
          <p:nvPr/>
        </p:nvSpPr>
        <p:spPr>
          <a:xfrm>
            <a:off x="7010400" y="2169021"/>
            <a:ext cx="1593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À SOURCER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b19093dd87_3_85"/>
          <p:cNvSpPr/>
          <p:nvPr/>
        </p:nvSpPr>
        <p:spPr>
          <a:xfrm>
            <a:off x="7010400" y="2391817"/>
            <a:ext cx="1593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2022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b19093dd87_3_85"/>
          <p:cNvSpPr/>
          <p:nvPr/>
        </p:nvSpPr>
        <p:spPr>
          <a:xfrm>
            <a:off x="7010400" y="2669828"/>
            <a:ext cx="15933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Données à rechercher et intégrer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b19093dd87_3_85"/>
          <p:cNvSpPr/>
          <p:nvPr/>
        </p:nvSpPr>
        <p:spPr>
          <a:xfrm>
            <a:off x="213355" y="3844820"/>
            <a:ext cx="85497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Arial"/>
              <a:buNone/>
            </a:pPr>
            <a:r>
              <a:rPr i="1" lang="en-US" sz="10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Chaque source = ses propres règles, ses propres problèmes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19093dd87_4_8"/>
          <p:cNvSpPr/>
          <p:nvPr/>
        </p:nvSpPr>
        <p:spPr>
          <a:xfrm>
            <a:off x="285750" y="228600"/>
            <a:ext cx="840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Organisation </a:t>
            </a:r>
            <a:r>
              <a:rPr b="1" lang="en-US" sz="24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de l’équipe et répartition des rôles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b19093dd87_4_8"/>
          <p:cNvSpPr/>
          <p:nvPr/>
        </p:nvSpPr>
        <p:spPr>
          <a:xfrm>
            <a:off x="1154400" y="882525"/>
            <a:ext cx="6835200" cy="1367700"/>
          </a:xfrm>
          <a:prstGeom prst="roundRect">
            <a:avLst>
              <a:gd fmla="val 6204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g3b19093dd87_4_8"/>
          <p:cNvCxnSpPr/>
          <p:nvPr/>
        </p:nvCxnSpPr>
        <p:spPr>
          <a:xfrm>
            <a:off x="1173450" y="882526"/>
            <a:ext cx="0" cy="1378800"/>
          </a:xfrm>
          <a:prstGeom prst="straightConnector1">
            <a:avLst/>
          </a:prstGeom>
          <a:noFill/>
          <a:ln cap="flat" cmpd="sng" w="381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g3b19093dd87_4_8"/>
          <p:cNvSpPr/>
          <p:nvPr/>
        </p:nvSpPr>
        <p:spPr>
          <a:xfrm>
            <a:off x="1383000" y="1011285"/>
            <a:ext cx="1593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825"/>
              <a:buFont typeface="Arial"/>
              <a:buNone/>
            </a:pPr>
            <a:r>
              <a:rPr b="1" lang="en-US" sz="1425">
                <a:solidFill>
                  <a:srgbClr val="C9A227"/>
                </a:solidFill>
              </a:rPr>
              <a:t>Chef de projet</a:t>
            </a:r>
            <a:endParaRPr b="1"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b19093dd87_4_8"/>
          <p:cNvSpPr/>
          <p:nvPr/>
        </p:nvSpPr>
        <p:spPr>
          <a:xfrm>
            <a:off x="1291225" y="1268475"/>
            <a:ext cx="5721600" cy="9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0512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Char char="-"/>
            </a:pPr>
            <a:r>
              <a:rPr lang="en-US" sz="975">
                <a:solidFill>
                  <a:srgbClr val="4A5568"/>
                </a:solidFill>
              </a:rPr>
              <a:t>Mise en place de PostgresSQL</a:t>
            </a:r>
            <a:endParaRPr sz="975">
              <a:solidFill>
                <a:srgbClr val="4A5568"/>
              </a:solidFill>
            </a:endParaRPr>
          </a:p>
          <a:p>
            <a:pPr indent="-290512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Char char="-"/>
            </a:pPr>
            <a:r>
              <a:rPr lang="en-US" sz="975">
                <a:solidFill>
                  <a:srgbClr val="4A5568"/>
                </a:solidFill>
              </a:rPr>
              <a:t>Supervision du dictionnaire d’équipes</a:t>
            </a:r>
            <a:endParaRPr sz="975">
              <a:solidFill>
                <a:srgbClr val="4A5568"/>
              </a:solidFill>
            </a:endParaRPr>
          </a:p>
          <a:p>
            <a:pPr indent="-290512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Char char="-"/>
            </a:pPr>
            <a:r>
              <a:rPr lang="en-US" sz="975">
                <a:solidFill>
                  <a:srgbClr val="4A5568"/>
                </a:solidFill>
              </a:rPr>
              <a:t>Mise en place des requêtes KPI</a:t>
            </a:r>
            <a:endParaRPr sz="975">
              <a:solidFill>
                <a:srgbClr val="4A5568"/>
              </a:solidFill>
            </a:endParaRPr>
          </a:p>
          <a:p>
            <a:pPr indent="-290512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Char char="-"/>
            </a:pPr>
            <a:r>
              <a:rPr lang="en-US" sz="975">
                <a:solidFill>
                  <a:srgbClr val="4A5568"/>
                </a:solidFill>
              </a:rPr>
              <a:t>Coordination de l’équipe</a:t>
            </a:r>
            <a:endParaRPr sz="975">
              <a:solidFill>
                <a:srgbClr val="4A5568"/>
              </a:solidFill>
            </a:endParaRPr>
          </a:p>
        </p:txBody>
      </p:sp>
      <p:grpSp>
        <p:nvGrpSpPr>
          <p:cNvPr id="89" name="Google Shape;89;g3b19093dd87_4_8"/>
          <p:cNvGrpSpPr/>
          <p:nvPr/>
        </p:nvGrpSpPr>
        <p:grpSpPr>
          <a:xfrm>
            <a:off x="1154400" y="2610451"/>
            <a:ext cx="1981200" cy="1462200"/>
            <a:chOff x="2431350" y="1216601"/>
            <a:chExt cx="1981200" cy="1462200"/>
          </a:xfrm>
        </p:grpSpPr>
        <p:sp>
          <p:nvSpPr>
            <p:cNvPr id="90" name="Google Shape;90;g3b19093dd87_4_8"/>
            <p:cNvSpPr/>
            <p:nvPr/>
          </p:nvSpPr>
          <p:spPr>
            <a:xfrm>
              <a:off x="2431350" y="1216601"/>
              <a:ext cx="1981200" cy="1462200"/>
            </a:xfrm>
            <a:prstGeom prst="roundRect">
              <a:avLst>
                <a:gd fmla="val 6204" name="adj"/>
              </a:avLst>
            </a:prstGeom>
            <a:solidFill>
              <a:srgbClr val="F0F4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1" name="Google Shape;91;g3b19093dd87_4_8"/>
            <p:cNvCxnSpPr/>
            <p:nvPr/>
          </p:nvCxnSpPr>
          <p:spPr>
            <a:xfrm>
              <a:off x="2450400" y="1216601"/>
              <a:ext cx="0" cy="1462200"/>
            </a:xfrm>
            <a:prstGeom prst="straightConnector1">
              <a:avLst/>
            </a:prstGeom>
            <a:noFill/>
            <a:ln cap="flat" cmpd="sng" w="38100">
              <a:solidFill>
                <a:srgbClr val="1A365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2" name="Google Shape;92;g3b19093dd87_4_8"/>
            <p:cNvSpPr/>
            <p:nvPr/>
          </p:nvSpPr>
          <p:spPr>
            <a:xfrm>
              <a:off x="2643567" y="1630047"/>
              <a:ext cx="1593300" cy="68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975"/>
                <a:buFont typeface="Arial"/>
                <a:buNone/>
              </a:pPr>
              <a:r>
                <a:rPr b="1" lang="en-US" sz="1475">
                  <a:solidFill>
                    <a:srgbClr val="4A5568"/>
                  </a:solidFill>
                </a:rPr>
                <a:t>Répartition fichier / personne </a:t>
              </a:r>
              <a:endParaRPr b="1" sz="1475">
                <a:solidFill>
                  <a:srgbClr val="4A5568"/>
                </a:solidFill>
              </a:endParaRPr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975"/>
                <a:buFont typeface="Arial"/>
                <a:buNone/>
              </a:pPr>
              <a:r>
                <a:t/>
              </a:r>
              <a:endParaRPr sz="975">
                <a:solidFill>
                  <a:srgbClr val="4A5568"/>
                </a:solidFill>
              </a:endParaRPr>
            </a:p>
          </p:txBody>
        </p:sp>
      </p:grpSp>
      <p:sp>
        <p:nvSpPr>
          <p:cNvPr id="93" name="Google Shape;93;g3b19093dd87_4_8"/>
          <p:cNvSpPr/>
          <p:nvPr/>
        </p:nvSpPr>
        <p:spPr>
          <a:xfrm>
            <a:off x="3581400" y="2610601"/>
            <a:ext cx="1981200" cy="1462200"/>
          </a:xfrm>
          <a:prstGeom prst="roundRect">
            <a:avLst>
              <a:gd fmla="val 6204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g3b19093dd87_4_8"/>
          <p:cNvCxnSpPr/>
          <p:nvPr/>
        </p:nvCxnSpPr>
        <p:spPr>
          <a:xfrm>
            <a:off x="3600450" y="2610601"/>
            <a:ext cx="0" cy="1462200"/>
          </a:xfrm>
          <a:prstGeom prst="straightConnector1">
            <a:avLst/>
          </a:prstGeom>
          <a:noFill/>
          <a:ln cap="flat" cmpd="sng" w="381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g3b19093dd87_4_8"/>
          <p:cNvSpPr/>
          <p:nvPr/>
        </p:nvSpPr>
        <p:spPr>
          <a:xfrm>
            <a:off x="6008400" y="2599351"/>
            <a:ext cx="1981200" cy="1462200"/>
          </a:xfrm>
          <a:prstGeom prst="roundRect">
            <a:avLst>
              <a:gd fmla="val 6204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g3b19093dd87_4_8"/>
          <p:cNvCxnSpPr/>
          <p:nvPr/>
        </p:nvCxnSpPr>
        <p:spPr>
          <a:xfrm>
            <a:off x="6027450" y="2599351"/>
            <a:ext cx="0" cy="1462200"/>
          </a:xfrm>
          <a:prstGeom prst="straightConnector1">
            <a:avLst/>
          </a:prstGeom>
          <a:noFill/>
          <a:ln cap="flat" cmpd="sng" w="381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g3b19093dd87_4_8"/>
          <p:cNvSpPr/>
          <p:nvPr/>
        </p:nvSpPr>
        <p:spPr>
          <a:xfrm>
            <a:off x="3775350" y="2698175"/>
            <a:ext cx="1593300" cy="12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b="1" lang="en-US" sz="1475">
                <a:solidFill>
                  <a:srgbClr val="4A5568"/>
                </a:solidFill>
              </a:rPr>
              <a:t>Identification des problèmes spécifique à chaque source</a:t>
            </a:r>
            <a:endParaRPr sz="975">
              <a:solidFill>
                <a:srgbClr val="4A5568"/>
              </a:solidFill>
            </a:endParaRPr>
          </a:p>
        </p:txBody>
      </p:sp>
      <p:sp>
        <p:nvSpPr>
          <p:cNvPr id="98" name="Google Shape;98;g3b19093dd87_4_8"/>
          <p:cNvSpPr/>
          <p:nvPr/>
        </p:nvSpPr>
        <p:spPr>
          <a:xfrm>
            <a:off x="6202350" y="2724300"/>
            <a:ext cx="1593300" cy="12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b="1" lang="en-US" sz="1475">
                <a:solidFill>
                  <a:srgbClr val="4A5568"/>
                </a:solidFill>
              </a:rPr>
              <a:t>Production d’un DataFrame nettoyé conforme au schéma final</a:t>
            </a:r>
            <a:endParaRPr sz="975">
              <a:solidFill>
                <a:srgbClr val="4A5568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g3b19093dd87_3_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9400"/>
            <a:ext cx="9143998" cy="5162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b19093dd87_3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196"/>
            <a:ext cx="9144001" cy="5146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g3b19093dd87_4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9563" y="152400"/>
            <a:ext cx="714486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65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3838329" y="1149846"/>
            <a:ext cx="146719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NOTRE MISSION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2632847" y="1641277"/>
            <a:ext cx="3878306" cy="1089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Georgia"/>
              <a:buNone/>
            </a:pPr>
            <a:r>
              <a:rPr lang="en-US" sz="3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Transformer le chaos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Georgia"/>
              <a:buNone/>
            </a:pPr>
            <a:r>
              <a:rPr lang="en-US" sz="3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en 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3300"/>
              <a:buFont typeface="Georgia"/>
              <a:buNone/>
            </a:pPr>
            <a:r>
              <a:rPr b="1" lang="en-US" sz="3300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une seule vérité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190925" y="1446014"/>
            <a:ext cx="7620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657275" y="4179853"/>
            <a:ext cx="5829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pipeline ETL qui collecte, nettoie et unifie 92 ans de données pour les rendre exploitables.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Depart </a:t>
            </a:r>
            <a:r>
              <a:rPr b="1" lang="en-US" sz="24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Extract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81000" y="1808857"/>
            <a:ext cx="2641550" cy="1581001"/>
          </a:xfrm>
          <a:prstGeom prst="roundRect">
            <a:avLst>
              <a:gd fmla="val 7230" name="adj"/>
            </a:avLst>
          </a:prstGeom>
          <a:solidFill>
            <a:srgbClr val="1A36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006358" y="2044184"/>
            <a:ext cx="1390686" cy="746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4200"/>
              <a:buFont typeface="Georgia"/>
              <a:buNone/>
            </a:pPr>
            <a:r>
              <a:rPr lang="en-US" sz="4200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195129" y="2974628"/>
            <a:ext cx="101314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</a:rPr>
              <a:t>csv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203470" y="1808857"/>
            <a:ext cx="2641550" cy="1581001"/>
          </a:xfrm>
          <a:prstGeom prst="roundRect">
            <a:avLst>
              <a:gd fmla="val 7230" name="adj"/>
            </a:avLst>
          </a:prstGeom>
          <a:solidFill>
            <a:srgbClr val="1A36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4071217" y="2037457"/>
            <a:ext cx="1031817" cy="746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4200"/>
              <a:buFont typeface="Georgia"/>
              <a:buNone/>
            </a:pPr>
            <a:r>
              <a:rPr lang="en-US" sz="4200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948086" y="2974628"/>
            <a:ext cx="124753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</a:rPr>
              <a:t>Json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121301" y="1808857"/>
            <a:ext cx="2641550" cy="1581001"/>
          </a:xfrm>
          <a:prstGeom prst="roundRect">
            <a:avLst>
              <a:gd fmla="val 7230" name="adj"/>
            </a:avLst>
          </a:prstGeom>
          <a:solidFill>
            <a:srgbClr val="1A36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238467" y="2198400"/>
            <a:ext cx="24072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4200"/>
              <a:buFont typeface="Georgia"/>
              <a:buNone/>
            </a:pPr>
            <a:r>
              <a:rPr lang="en-US" sz="4200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et zoubir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893835" y="2974628"/>
            <a:ext cx="1096333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2602855" y="4703564"/>
            <a:ext cx="108221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★</a:t>
            </a:r>
            <a:r>
              <a:rPr lang="en-US" sz="97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6 confédérations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044851" y="4703564"/>
            <a:ext cx="145413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★</a:t>
            </a:r>
            <a:r>
              <a:rPr lang="en-US" sz="97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4 sources harmonisées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851475" y="4703564"/>
            <a:ext cx="703311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★</a:t>
            </a:r>
            <a:r>
              <a:rPr lang="en-US" sz="97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0 doublon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285750" y="228600"/>
            <a:ext cx="530018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Pipeline ETL : du chaos à l'ordre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2341364" y="1901279"/>
            <a:ext cx="1041946" cy="1135112"/>
          </a:xfrm>
          <a:prstGeom prst="roundRect">
            <a:avLst>
              <a:gd fmla="val 7313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2564117" y="2091779"/>
            <a:ext cx="596441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📄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2564117" y="2487960"/>
            <a:ext cx="596441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EXTRACT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2564117" y="2699296"/>
            <a:ext cx="59644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CSV, JSON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571905" y="2335411"/>
            <a:ext cx="1943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954810" y="1901279"/>
            <a:ext cx="1248221" cy="1135112"/>
          </a:xfrm>
          <a:prstGeom prst="roundRect">
            <a:avLst>
              <a:gd fmla="val 6713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175500" y="2091779"/>
            <a:ext cx="80684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⚙️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175500" y="2487960"/>
            <a:ext cx="80684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TRANSFORM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175500" y="2699296"/>
            <a:ext cx="80684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Python, Pandas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391626" y="2335411"/>
            <a:ext cx="1943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5774531" y="1901279"/>
            <a:ext cx="1027956" cy="1135112"/>
          </a:xfrm>
          <a:prstGeom prst="roundRect">
            <a:avLst>
              <a:gd fmla="val 7413" name="adj"/>
            </a:avLst>
          </a:prstGeom>
          <a:solidFill>
            <a:srgbClr val="1A36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5997424" y="2091779"/>
            <a:ext cx="582171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🗄️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5997424" y="2487960"/>
            <a:ext cx="582171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LOAD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997424" y="2699296"/>
            <a:ext cx="58217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2777282" y="3226891"/>
            <a:ext cx="3589288" cy="700980"/>
          </a:xfrm>
          <a:prstGeom prst="roundRect">
            <a:avLst>
              <a:gd fmla="val 10870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2974561" y="3379291"/>
            <a:ext cx="319473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1A365D"/>
                </a:solidFill>
              </a:rPr>
              <a:t>2</a:t>
            </a:r>
            <a:r>
              <a:rPr b="1" lang="en-US" sz="975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 notebooks par source × </a:t>
            </a:r>
            <a:r>
              <a:rPr b="1" lang="en-US" sz="975">
                <a:solidFill>
                  <a:srgbClr val="1A365D"/>
                </a:solidFill>
              </a:rPr>
              <a:t>3</a:t>
            </a:r>
            <a:r>
              <a:rPr b="1" lang="en-US" sz="975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 sources + 1 notebook de recuperation et load = </a:t>
            </a:r>
            <a:r>
              <a:rPr b="1" lang="en-US" sz="975">
                <a:solidFill>
                  <a:srgbClr val="1A365D"/>
                </a:solidFill>
              </a:rPr>
              <a:t>7</a:t>
            </a:r>
            <a:r>
              <a:rPr b="1" lang="en-US" sz="975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 notebooks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Chaque source traitée indépendamment, puis consolidée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/>
          <p:nvPr/>
        </p:nvSpPr>
        <p:spPr>
          <a:xfrm>
            <a:off x="285750" y="228600"/>
            <a:ext cx="528066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Schéma final : simple et efficace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381000" y="1421133"/>
            <a:ext cx="4405800" cy="415200"/>
          </a:xfrm>
          <a:prstGeom prst="roundRect">
            <a:avLst>
              <a:gd fmla="val 18351" name="adj"/>
            </a:avLst>
          </a:prstGeom>
          <a:solidFill>
            <a:srgbClr val="1A36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533400" y="1535460"/>
            <a:ext cx="41829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📋 TABLE MATCHES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421975" y="1988804"/>
            <a:ext cx="4405800" cy="29829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5091559" y="1421160"/>
            <a:ext cx="3671441" cy="415230"/>
          </a:xfrm>
          <a:prstGeom prst="roundRect">
            <a:avLst>
              <a:gd fmla="val 18351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5243959" y="1535460"/>
            <a:ext cx="343397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🏳️ TABLE TEAMS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5091559" y="1988790"/>
            <a:ext cx="3671441" cy="1371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5243959" y="2141190"/>
            <a:ext cx="343397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5243888" y="2244997"/>
            <a:ext cx="34341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00"/>
              <a:buFont typeface="Arial"/>
              <a:buChar char="●"/>
            </a:pPr>
            <a:r>
              <a:rPr lang="en-US" sz="1500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name </a:t>
            </a:r>
            <a:endParaRPr sz="1500">
              <a:solidFill>
                <a:srgbClr val="1A36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00"/>
              <a:buChar char="●"/>
            </a:pPr>
            <a:r>
              <a:rPr lang="en-US" sz="1500">
                <a:solidFill>
                  <a:srgbClr val="1A365D"/>
                </a:solidFill>
              </a:rPr>
              <a:t>confederation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00"/>
              <a:buChar char="●"/>
            </a:pPr>
            <a:r>
              <a:rPr lang="en-US" sz="1500">
                <a:solidFill>
                  <a:srgbClr val="1A365D"/>
                </a:solidFill>
              </a:rPr>
              <a:t>aliases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1A365D"/>
              </a:solidFill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553225" y="2123200"/>
            <a:ext cx="4074300" cy="19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id_match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home_team_id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away_team_id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home_result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away_result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result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extra_time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penalties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replay, date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round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city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id_stadium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edition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/>
          <p:nvPr/>
        </p:nvSpPr>
        <p:spPr>
          <a:xfrm>
            <a:off x="285750" y="228600"/>
            <a:ext cx="573786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Défi: 300+ noms → 226 équipes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381000" y="1789063"/>
            <a:ext cx="365302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Dans les données sources 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381000" y="2089993"/>
            <a:ext cx="3581400" cy="401836"/>
          </a:xfrm>
          <a:prstGeom prst="roundRect">
            <a:avLst>
              <a:gd fmla="val 14222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33400" y="2204293"/>
            <a:ext cx="334213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75"/>
              <a:buFont typeface="Courier New"/>
              <a:buNone/>
            </a:pPr>
            <a:r>
              <a:rPr lang="en-US" sz="975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rPr>
              <a:t>"Côte d'Ivoire"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381000" y="2606129"/>
            <a:ext cx="3581400" cy="401836"/>
          </a:xfrm>
          <a:prstGeom prst="roundRect">
            <a:avLst>
              <a:gd fmla="val 14222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33400" y="2720429"/>
            <a:ext cx="334213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75"/>
              <a:buFont typeface="Courier New"/>
              <a:buNone/>
            </a:pPr>
            <a:r>
              <a:rPr lang="en-US" sz="975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rPr>
              <a:t>"Ivory Coast"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381000" y="3122265"/>
            <a:ext cx="3581400" cy="401836"/>
          </a:xfrm>
          <a:prstGeom prst="roundRect">
            <a:avLst>
              <a:gd fmla="val 14222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533400" y="3236565"/>
            <a:ext cx="334213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75"/>
              <a:buFont typeface="Courier New"/>
              <a:buNone/>
            </a:pPr>
            <a:r>
              <a:rPr lang="en-US" sz="975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rPr>
              <a:t>"CIV"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381000" y="3638401"/>
            <a:ext cx="3581400" cy="401836"/>
          </a:xfrm>
          <a:prstGeom prst="roundRect">
            <a:avLst>
              <a:gd fmla="val 14222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33400" y="3752701"/>
            <a:ext cx="334213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75"/>
              <a:buFont typeface="Courier New"/>
              <a:buNone/>
            </a:pPr>
            <a:r>
              <a:rPr lang="en-US" sz="975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rPr>
              <a:t>"Cote d Ivoire"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4338828" y="2594670"/>
            <a:ext cx="466344" cy="639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5181600" y="1903214"/>
            <a:ext cx="365302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Dans notre base 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5181600" y="2204145"/>
            <a:ext cx="3581400" cy="830461"/>
          </a:xfrm>
          <a:prstGeom prst="roundRect">
            <a:avLst>
              <a:gd fmla="val 9176" name="adj"/>
            </a:avLst>
          </a:prstGeom>
          <a:solidFill>
            <a:srgbClr val="D4ED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p9"/>
          <p:cNvCxnSpPr/>
          <p:nvPr/>
        </p:nvCxnSpPr>
        <p:spPr>
          <a:xfrm>
            <a:off x="5200650" y="2204145"/>
            <a:ext cx="0" cy="830461"/>
          </a:xfrm>
          <a:prstGeom prst="straightConnector1">
            <a:avLst/>
          </a:prstGeom>
          <a:noFill/>
          <a:ln cap="flat" cmpd="sng" w="381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9"/>
          <p:cNvSpPr/>
          <p:nvPr/>
        </p:nvSpPr>
        <p:spPr>
          <a:xfrm>
            <a:off x="5410200" y="2394645"/>
            <a:ext cx="3225546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5724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155724"/>
                </a:solidFill>
                <a:latin typeface="Courier New"/>
                <a:ea typeface="Courier New"/>
                <a:cs typeface="Courier New"/>
                <a:sym typeface="Courier New"/>
              </a:rPr>
              <a:t>"Côte d'Ivoire"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5410200" y="2684115"/>
            <a:ext cx="322554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ID: 42 | Confédération: CAF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5181600" y="3225105"/>
            <a:ext cx="3581400" cy="700980"/>
          </a:xfrm>
          <a:prstGeom prst="roundRect">
            <a:avLst>
              <a:gd fmla="val 10870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334000" y="3377505"/>
            <a:ext cx="3342132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Dictionnaire de mapping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 alias → nom FIFA officiel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/>
          <p:nvPr/>
        </p:nvSpPr>
        <p:spPr>
          <a:xfrm>
            <a:off x="285750" y="228600"/>
            <a:ext cx="555726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Sous le capot : partitionnement intelligent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381000" y="1523107"/>
            <a:ext cx="39250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25"/>
              <a:buFont typeface="Arial"/>
              <a:buNone/>
            </a:pPr>
            <a:r>
              <a:rPr lang="en-US" sz="112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La table </a:t>
            </a:r>
            <a:r>
              <a:rPr b="1" lang="en-US" sz="1125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matches</a:t>
            </a:r>
            <a:r>
              <a:rPr lang="en-US" sz="112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est partitionnée par édition de Coupe du Monde.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381000" y="2132707"/>
            <a:ext cx="3848100" cy="464790"/>
          </a:xfrm>
          <a:prstGeom prst="roundRect">
            <a:avLst>
              <a:gd fmla="val 16395" name="adj"/>
            </a:avLst>
          </a:prstGeom>
          <a:solidFill>
            <a:srgbClr val="1A36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533400" y="2285107"/>
            <a:ext cx="361416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C9A227"/>
                </a:solidFill>
                <a:latin typeface="Courier New"/>
                <a:ea typeface="Courier New"/>
                <a:cs typeface="Courier New"/>
                <a:sym typeface="Courier New"/>
              </a:rPr>
              <a:t>PARTITION BY LIST (edition)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381000" y="2749897"/>
            <a:ext cx="392506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21 partitions</a:t>
            </a:r>
            <a:r>
              <a:rPr lang="en-US" sz="10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= 21 Coupes du Monde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381000" y="3088928"/>
            <a:ext cx="3848100" cy="638175"/>
          </a:xfrm>
          <a:prstGeom prst="roundRect">
            <a:avLst>
              <a:gd fmla="val 11940" name="adj"/>
            </a:avLst>
          </a:prstGeom>
          <a:solidFill>
            <a:srgbClr val="D4ED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533400" y="3222278"/>
            <a:ext cx="361416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155724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155724"/>
                </a:solidFill>
                <a:latin typeface="Arial"/>
                <a:ea typeface="Arial"/>
                <a:cs typeface="Arial"/>
                <a:sym typeface="Arial"/>
              </a:rPr>
              <a:t>Avantage :</a:t>
            </a:r>
            <a:r>
              <a:rPr lang="en-US" sz="975">
                <a:solidFill>
                  <a:srgbClr val="155724"/>
                </a:solidFill>
                <a:latin typeface="Arial"/>
                <a:ea typeface="Arial"/>
                <a:cs typeface="Arial"/>
                <a:sym typeface="Arial"/>
              </a:rPr>
              <a:t> Requête sur 2018 → PostgreSQL ignore les 20 autres partitions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4533900" y="1858417"/>
            <a:ext cx="4229100" cy="1533376"/>
          </a:xfrm>
          <a:prstGeom prst="roundRect">
            <a:avLst>
              <a:gd fmla="val 7454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5975198" y="2048917"/>
            <a:ext cx="134635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PARTITION PRUNING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5416600" y="2475607"/>
            <a:ext cx="423714" cy="260896"/>
          </a:xfrm>
          <a:prstGeom prst="roundRect">
            <a:avLst>
              <a:gd fmla="val 14604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5509517" y="2532757"/>
            <a:ext cx="23787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1930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5916513" y="2475607"/>
            <a:ext cx="423714" cy="260896"/>
          </a:xfrm>
          <a:prstGeom prst="roundRect">
            <a:avLst>
              <a:gd fmla="val 14604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6009431" y="2532757"/>
            <a:ext cx="23787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1934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6416427" y="2475607"/>
            <a:ext cx="277862" cy="260896"/>
          </a:xfrm>
          <a:prstGeom prst="roundRect">
            <a:avLst>
              <a:gd fmla="val 14604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6510803" y="2532757"/>
            <a:ext cx="8910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6770489" y="2475607"/>
            <a:ext cx="609898" cy="260896"/>
          </a:xfrm>
          <a:prstGeom prst="roundRect">
            <a:avLst>
              <a:gd fmla="val 14604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6861545" y="2532757"/>
            <a:ext cx="42778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2018 OK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7456587" y="2475607"/>
            <a:ext cx="423714" cy="260896"/>
          </a:xfrm>
          <a:prstGeom prst="roundRect">
            <a:avLst>
              <a:gd fmla="val 14604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7549505" y="2532757"/>
            <a:ext cx="23787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2022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5591891" y="3041303"/>
            <a:ext cx="21129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Seule la partition demandée est scannée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297180" y="4754910"/>
            <a:ext cx="854964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Arial"/>
              <a:buNone/>
            </a:pPr>
            <a:r>
              <a:rPr i="1" lang="en-US" sz="9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Choix pédagogique assumé : la volumétrie actuelle ne l'impose pas, mais le projet l'anticipe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/>
          <p:nvPr/>
        </p:nvSpPr>
        <p:spPr>
          <a:xfrm>
            <a:off x="3835750" y="1557338"/>
            <a:ext cx="147220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ET MAINTENANT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2699946" y="1972568"/>
            <a:ext cx="374395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lang="en-US" sz="3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Ce que les données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lang="en-US" sz="3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nous révèlent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4190850" y="1829692"/>
            <a:ext cx="7620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3109668" y="3808643"/>
            <a:ext cx="29244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92 ans d'histoire → des patterns émergent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/>
          <p:nvPr/>
        </p:nvSpPr>
        <p:spPr>
          <a:xfrm>
            <a:off x="869188" y="249750"/>
            <a:ext cx="653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Insight #1 : Le premier match prédit tout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4388613" y="833667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25"/>
              <a:buFont typeface="Arial"/>
              <a:buNone/>
            </a:pPr>
            <a:r>
              <a:rPr lang="en-US" sz="112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Que se passe-t-il quand vous </a:t>
            </a:r>
            <a:r>
              <a:rPr b="1" lang="en-US" sz="1125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perdez</a:t>
            </a:r>
            <a:r>
              <a:rPr lang="en-US" sz="112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votre premier match de poule ?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4388613" y="1312024"/>
            <a:ext cx="3759600" cy="1187400"/>
          </a:xfrm>
          <a:prstGeom prst="roundRect">
            <a:avLst>
              <a:gd fmla="val 5936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4699713" y="1397847"/>
            <a:ext cx="31374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3600"/>
              <a:buFont typeface="Georgia"/>
              <a:buNone/>
            </a:pPr>
            <a:r>
              <a:rPr lang="en-US" sz="2000">
                <a:solidFill>
                  <a:srgbClr val="DC2626"/>
                </a:solidFill>
                <a:latin typeface="Georgia"/>
                <a:ea typeface="Georgia"/>
                <a:cs typeface="Georgia"/>
                <a:sym typeface="Georgia"/>
              </a:rPr>
              <a:t>85%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4468522" y="1793240"/>
            <a:ext cx="34977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de chances d'être éliminé en poules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4634013" y="1986815"/>
            <a:ext cx="3268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Seulement </a:t>
            </a:r>
            <a:r>
              <a:rPr b="1" lang="en-US" sz="975">
                <a:solidFill>
                  <a:srgbClr val="1A365D"/>
                </a:solidFill>
              </a:rPr>
              <a:t>3.1</a:t>
            </a:r>
            <a:r>
              <a:rPr b="1" lang="en-US" sz="975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r>
              <a:rPr lang="en-US" sz="97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des équipes ayant perdu leur 1er match sont devenues championnes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869200" y="833675"/>
            <a:ext cx="3268800" cy="1665900"/>
          </a:xfrm>
          <a:prstGeom prst="roundRect">
            <a:avLst>
              <a:gd fmla="val 4832" name="adj"/>
            </a:avLst>
          </a:prstGeom>
          <a:solidFill>
            <a:srgbClr val="1A36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1735324" y="1113373"/>
            <a:ext cx="13293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75"/>
              <a:buFont typeface="Arial"/>
              <a:buNone/>
            </a:pPr>
            <a:r>
              <a:rPr lang="en-US" sz="1175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SI VOUS GAGNEZ</a:t>
            </a:r>
            <a:endParaRPr sz="11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1675313" y="1602688"/>
            <a:ext cx="14493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4200"/>
              <a:buFont typeface="Georgia"/>
              <a:buNone/>
            </a:pPr>
            <a:r>
              <a:rPr lang="en-US" sz="1900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16.8</a:t>
            </a:r>
            <a:r>
              <a:rPr lang="en-US" sz="1900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%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1821556" y="2011496"/>
            <a:ext cx="11493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chances de titre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 flipH="1" rot="10800000">
            <a:off x="6387225" y="2727658"/>
            <a:ext cx="571500" cy="457200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6177941" y="2801976"/>
            <a:ext cx="990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vs </a:t>
            </a:r>
            <a:r>
              <a:rPr lang="en-US" sz="975">
                <a:solidFill>
                  <a:srgbClr val="FFFFFF"/>
                </a:solidFill>
              </a:rPr>
              <a:t>3.1</a:t>
            </a:r>
            <a:r>
              <a:rPr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% si dfite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14" title="newplot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675" y="2499426"/>
            <a:ext cx="7944661" cy="282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5"/>
          <p:cNvSpPr/>
          <p:nvPr/>
        </p:nvSpPr>
        <p:spPr>
          <a:xfrm>
            <a:off x="285750" y="228600"/>
            <a:ext cx="54406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Insight #2 : La règle des 7 points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381000" y="838200"/>
            <a:ext cx="854964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25"/>
              <a:buFont typeface="Arial"/>
              <a:buNone/>
            </a:pPr>
            <a:r>
              <a:rPr lang="en-US" sz="112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Combien de points en phase de groupes pour aller loin ?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6748425" y="1318050"/>
            <a:ext cx="1482000" cy="1014900"/>
          </a:xfrm>
          <a:prstGeom prst="roundRect">
            <a:avLst>
              <a:gd fmla="val 4963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7132275" y="1406281"/>
            <a:ext cx="7143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0-3 pts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7045426" y="1596360"/>
            <a:ext cx="8880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400"/>
              <a:buFont typeface="Georgia"/>
              <a:buNone/>
            </a:pPr>
            <a:r>
              <a:rPr lang="en-US" sz="2400">
                <a:solidFill>
                  <a:srgbClr val="DC2626"/>
                </a:solidFill>
                <a:latin typeface="Georgia"/>
                <a:ea typeface="Georgia"/>
                <a:cs typeface="Georgia"/>
                <a:sym typeface="Georgia"/>
              </a:rPr>
              <a:t>2.8%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7045422" y="2077276"/>
            <a:ext cx="8880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atteignent les 1/4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6748425" y="2342350"/>
            <a:ext cx="1482000" cy="935700"/>
          </a:xfrm>
          <a:prstGeom prst="roundRect">
            <a:avLst>
              <a:gd fmla="val 4963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6992300" y="2479459"/>
            <a:ext cx="8565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4-6 pts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6976363" y="2596897"/>
            <a:ext cx="8880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400"/>
              <a:buFont typeface="Georgia"/>
              <a:buNone/>
            </a:pPr>
            <a:r>
              <a:rPr lang="en-US" sz="2400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37.1%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6976371" y="3057076"/>
            <a:ext cx="8880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atteignent les 1/4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6748425" y="3327775"/>
            <a:ext cx="1482000" cy="1108800"/>
          </a:xfrm>
          <a:prstGeom prst="roundRect">
            <a:avLst>
              <a:gd fmla="val 4785" name="adj"/>
            </a:avLst>
          </a:prstGeom>
          <a:solidFill>
            <a:srgbClr val="D4EDDA"/>
          </a:solidFill>
          <a:ln cap="flat" cmpd="sng" w="28575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7290964" y="3457717"/>
            <a:ext cx="3969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5724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55724"/>
                </a:solidFill>
                <a:latin typeface="Arial"/>
                <a:ea typeface="Arial"/>
                <a:cs typeface="Arial"/>
                <a:sym typeface="Arial"/>
              </a:rPr>
              <a:t>7+ pts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7018926" y="3625947"/>
            <a:ext cx="10161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2400"/>
              <a:buFont typeface="Georgia"/>
              <a:buNone/>
            </a:pPr>
            <a:r>
              <a:rPr lang="en-US" sz="2400">
                <a:solidFill>
                  <a:srgbClr val="28A745"/>
                </a:solidFill>
                <a:latin typeface="Georgia"/>
                <a:ea typeface="Georgia"/>
                <a:cs typeface="Georgia"/>
                <a:sym typeface="Georgia"/>
              </a:rPr>
              <a:t>73.9%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7045421" y="4068251"/>
            <a:ext cx="8880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5724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155724"/>
                </a:solidFill>
                <a:latin typeface="Arial"/>
                <a:ea typeface="Arial"/>
                <a:cs typeface="Arial"/>
                <a:sym typeface="Arial"/>
              </a:rPr>
              <a:t>atteignent les 1/4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381000" y="4499670"/>
            <a:ext cx="8382000" cy="491430"/>
          </a:xfrm>
          <a:prstGeom prst="roundRect">
            <a:avLst>
              <a:gd fmla="val 15506" name="adj"/>
            </a:avLst>
          </a:prstGeom>
          <a:solidFill>
            <a:srgbClr val="1A36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530352" y="4652070"/>
            <a:ext cx="808329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Avec </a:t>
            </a:r>
            <a:r>
              <a:rPr b="1" lang="en-US" sz="1050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7 points ou plus</a:t>
            </a: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en groupes → </a:t>
            </a:r>
            <a:r>
              <a:rPr b="1" lang="en-US" sz="1050">
                <a:solidFill>
                  <a:srgbClr val="C9A227"/>
                </a:solidFill>
              </a:rPr>
              <a:t>13.6</a:t>
            </a:r>
            <a:r>
              <a:rPr b="1" lang="en-US" sz="1050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 chances de titre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15" title="newplot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25" y="1601238"/>
            <a:ext cx="6443624" cy="183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"/>
          <p:cNvSpPr/>
          <p:nvPr/>
        </p:nvSpPr>
        <p:spPr>
          <a:xfrm>
            <a:off x="285750" y="228600"/>
            <a:ext cx="8586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Insight #3 : Le profil type du champion </a:t>
            </a:r>
            <a:r>
              <a:rPr b="1" lang="en-US" sz="22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en phase groupe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950" y="1018774"/>
            <a:ext cx="4683150" cy="3925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6075" y="2224088"/>
            <a:ext cx="3028950" cy="1514475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"/>
          <p:cNvSpPr/>
          <p:nvPr/>
        </p:nvSpPr>
        <p:spPr>
          <a:xfrm>
            <a:off x="1388750" y="315775"/>
            <a:ext cx="636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La preuve statistique : corrélation forte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17" title="newplot 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00" y="1296513"/>
            <a:ext cx="8839199" cy="3138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8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Ce que notre base permet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8"/>
          <p:cNvSpPr/>
          <p:nvPr/>
        </p:nvSpPr>
        <p:spPr>
          <a:xfrm>
            <a:off x="381000" y="1867942"/>
            <a:ext cx="1952625" cy="1501080"/>
          </a:xfrm>
          <a:prstGeom prst="roundRect">
            <a:avLst>
              <a:gd fmla="val 5076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18"/>
          <p:cNvCxnSpPr/>
          <p:nvPr/>
        </p:nvCxnSpPr>
        <p:spPr>
          <a:xfrm>
            <a:off x="381000" y="1886992"/>
            <a:ext cx="1952625" cy="0"/>
          </a:xfrm>
          <a:prstGeom prst="straightConnector1">
            <a:avLst/>
          </a:prstGeom>
          <a:noFill/>
          <a:ln cap="flat" cmpd="sng" w="381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18"/>
          <p:cNvSpPr/>
          <p:nvPr/>
        </p:nvSpPr>
        <p:spPr>
          <a:xfrm>
            <a:off x="571500" y="2096542"/>
            <a:ext cx="160305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📊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571500" y="2530822"/>
            <a:ext cx="160305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Analyses historiques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8"/>
          <p:cNvSpPr/>
          <p:nvPr/>
        </p:nvSpPr>
        <p:spPr>
          <a:xfrm>
            <a:off x="571500" y="2807047"/>
            <a:ext cx="160305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Performance de n'importe quelle équipe sur 92 ans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2524125" y="1867942"/>
            <a:ext cx="1952625" cy="1501080"/>
          </a:xfrm>
          <a:prstGeom prst="roundRect">
            <a:avLst>
              <a:gd fmla="val 5076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18"/>
          <p:cNvCxnSpPr/>
          <p:nvPr/>
        </p:nvCxnSpPr>
        <p:spPr>
          <a:xfrm>
            <a:off x="2524125" y="1886992"/>
            <a:ext cx="1952625" cy="0"/>
          </a:xfrm>
          <a:prstGeom prst="straightConnector1">
            <a:avLst/>
          </a:prstGeom>
          <a:noFill/>
          <a:ln cap="flat" cmpd="sng" w="38100">
            <a:solidFill>
              <a:srgbClr val="1A365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18"/>
          <p:cNvSpPr/>
          <p:nvPr/>
        </p:nvSpPr>
        <p:spPr>
          <a:xfrm>
            <a:off x="2714625" y="2096542"/>
            <a:ext cx="160305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⚔️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8"/>
          <p:cNvSpPr/>
          <p:nvPr/>
        </p:nvSpPr>
        <p:spPr>
          <a:xfrm>
            <a:off x="2714625" y="2530822"/>
            <a:ext cx="160305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Confrontations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2714625" y="2807047"/>
            <a:ext cx="160305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Head-to-head complet entre deux équipes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4667250" y="1867942"/>
            <a:ext cx="1952625" cy="1501080"/>
          </a:xfrm>
          <a:prstGeom prst="roundRect">
            <a:avLst>
              <a:gd fmla="val 5076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18"/>
          <p:cNvCxnSpPr/>
          <p:nvPr/>
        </p:nvCxnSpPr>
        <p:spPr>
          <a:xfrm>
            <a:off x="4667250" y="1886992"/>
            <a:ext cx="1952625" cy="0"/>
          </a:xfrm>
          <a:prstGeom prst="straightConnector1">
            <a:avLst/>
          </a:prstGeom>
          <a:noFill/>
          <a:ln cap="flat" cmpd="sng" w="381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18"/>
          <p:cNvSpPr/>
          <p:nvPr/>
        </p:nvSpPr>
        <p:spPr>
          <a:xfrm>
            <a:off x="4857750" y="2096542"/>
            <a:ext cx="160305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📈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4857750" y="2530822"/>
            <a:ext cx="160305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Tendances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4857750" y="2807047"/>
            <a:ext cx="160305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Évolution du football mondial par décennie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6810375" y="1979861"/>
            <a:ext cx="1952625" cy="1277243"/>
          </a:xfrm>
          <a:prstGeom prst="roundRect">
            <a:avLst>
              <a:gd fmla="val 5966" name="adj"/>
            </a:avLst>
          </a:prstGeom>
          <a:solidFill>
            <a:srgbClr val="1A36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7000875" y="2170361"/>
            <a:ext cx="160305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🔮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7000875" y="2604641"/>
            <a:ext cx="160305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Prédictions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7000875" y="2880866"/>
            <a:ext cx="1603058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 pour modèle ML futur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297180" y="4741664"/>
            <a:ext cx="854964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★</a:t>
            </a:r>
            <a:r>
              <a:rPr lang="en-US" sz="97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Requêtes SQL directes </a:t>
            </a:r>
            <a:r>
              <a:rPr lang="en-US" sz="975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★</a:t>
            </a:r>
            <a:r>
              <a:rPr lang="en-US" sz="97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Dashboards </a:t>
            </a:r>
            <a:r>
              <a:rPr lang="en-US" sz="975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★</a:t>
            </a:r>
            <a:r>
              <a:rPr lang="en-US" sz="97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API future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g3b19093dd87_0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38" y="461963"/>
            <a:ext cx="8696325" cy="42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b19093dd87_0_50"/>
          <p:cNvSpPr/>
          <p:nvPr/>
        </p:nvSpPr>
        <p:spPr>
          <a:xfrm>
            <a:off x="2420404" y="468350"/>
            <a:ext cx="4303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L’affiche : Uruguay - Brésil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b19093dd87_0_50"/>
          <p:cNvSpPr/>
          <p:nvPr/>
        </p:nvSpPr>
        <p:spPr>
          <a:xfrm>
            <a:off x="381000" y="838200"/>
            <a:ext cx="8549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25"/>
              <a:buFont typeface="Arial"/>
              <a:buNone/>
            </a:pPr>
            <a:r>
              <a:t/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g3b19093dd87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90700"/>
            <a:ext cx="8839198" cy="3380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19093dd87_0_40"/>
          <p:cNvSpPr/>
          <p:nvPr/>
        </p:nvSpPr>
        <p:spPr>
          <a:xfrm>
            <a:off x="2967463" y="435650"/>
            <a:ext cx="320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Uruguay</a:t>
            </a:r>
            <a:r>
              <a:rPr b="1" lang="en-US" sz="24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 : le déclin!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b19093dd87_0_40"/>
          <p:cNvSpPr/>
          <p:nvPr/>
        </p:nvSpPr>
        <p:spPr>
          <a:xfrm>
            <a:off x="381000" y="838200"/>
            <a:ext cx="8549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25"/>
              <a:buFont typeface="Arial"/>
              <a:buNone/>
            </a:pPr>
            <a:r>
              <a:t/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" name="Google Shape;337;g3b19093dd87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388" y="838200"/>
            <a:ext cx="6181228" cy="222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g3b19093dd87_0_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1400" y="3221375"/>
            <a:ext cx="6181225" cy="192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b19093dd87_0_7"/>
          <p:cNvSpPr/>
          <p:nvPr/>
        </p:nvSpPr>
        <p:spPr>
          <a:xfrm>
            <a:off x="775875" y="295550"/>
            <a:ext cx="7573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Georgia"/>
              <a:buNone/>
            </a:pPr>
            <a:r>
              <a:rPr b="1" lang="en-US" sz="19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La France : nul -&gt; moyen -&gt; fort, mi fort et re-fort derrière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b19093dd87_0_7"/>
          <p:cNvSpPr/>
          <p:nvPr/>
        </p:nvSpPr>
        <p:spPr>
          <a:xfrm>
            <a:off x="381000" y="838200"/>
            <a:ext cx="8549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25"/>
              <a:buFont typeface="Arial"/>
              <a:buNone/>
            </a:pPr>
            <a:r>
              <a:t/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g3b19093dd87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0188" y="687550"/>
            <a:ext cx="6443625" cy="2315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g3b19093dd87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3400" y="3089775"/>
            <a:ext cx="6377200" cy="2053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19093dd87_0_30"/>
          <p:cNvSpPr/>
          <p:nvPr/>
        </p:nvSpPr>
        <p:spPr>
          <a:xfrm>
            <a:off x="2522850" y="359375"/>
            <a:ext cx="426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Le Brésil c’est la constance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b19093dd87_0_30"/>
          <p:cNvSpPr/>
          <p:nvPr/>
        </p:nvSpPr>
        <p:spPr>
          <a:xfrm>
            <a:off x="381000" y="838200"/>
            <a:ext cx="8549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25"/>
              <a:buFont typeface="Arial"/>
              <a:buNone/>
            </a:pPr>
            <a:r>
              <a:t/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g3b19093dd87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550" y="838200"/>
            <a:ext cx="7684900" cy="219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g3b19093dd87_0_30"/>
          <p:cNvPicPr preferRelativeResize="0"/>
          <p:nvPr/>
        </p:nvPicPr>
        <p:blipFill rotWithShape="1">
          <a:blip r:embed="rId4">
            <a:alphaModFix/>
          </a:blip>
          <a:srcRect b="3740" l="0" r="0" t="-3740"/>
          <a:stretch/>
        </p:blipFill>
        <p:spPr>
          <a:xfrm>
            <a:off x="934175" y="3031500"/>
            <a:ext cx="7275649" cy="21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g3b19093dd87_0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75" y="767175"/>
            <a:ext cx="7747950" cy="43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b19093dd87_0_67"/>
          <p:cNvSpPr/>
          <p:nvPr/>
        </p:nvSpPr>
        <p:spPr>
          <a:xfrm>
            <a:off x="1070100" y="283100"/>
            <a:ext cx="738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L’Allemagne aussi, en moins jolie et qui </a:t>
            </a:r>
            <a:r>
              <a:rPr b="1" lang="en-US" sz="24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vieillit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19093dd87_0_59"/>
          <p:cNvSpPr/>
          <p:nvPr/>
        </p:nvSpPr>
        <p:spPr>
          <a:xfrm>
            <a:off x="1236750" y="533400"/>
            <a:ext cx="667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Georgia"/>
              <a:buNone/>
            </a:pPr>
            <a:r>
              <a:rPr b="1" lang="en-US" sz="21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Le Brésil, c’est l’Angleterre qui marque des buts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b19093dd87_0_59"/>
          <p:cNvSpPr/>
          <p:nvPr/>
        </p:nvSpPr>
        <p:spPr>
          <a:xfrm>
            <a:off x="381000" y="838200"/>
            <a:ext cx="8549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25"/>
              <a:buFont typeface="Arial"/>
              <a:buNone/>
            </a:pPr>
            <a:r>
              <a:t/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g3b19093dd87_0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100" y="1103350"/>
            <a:ext cx="5319495" cy="380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A365D"/>
                </a:solidFill>
                <a:latin typeface="Georgia"/>
                <a:ea typeface="Georgia"/>
                <a:cs typeface="Georgia"/>
                <a:sym typeface="Georgia"/>
              </a:rPr>
              <a:t>L'équipe Short Kings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381000" y="1526977"/>
            <a:ext cx="1981200" cy="2182862"/>
          </a:xfrm>
          <a:prstGeom prst="roundRect">
            <a:avLst>
              <a:gd fmla="val 3846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1133475" y="1717477"/>
            <a:ext cx="476250" cy="476250"/>
          </a:xfrm>
          <a:prstGeom prst="roundRect">
            <a:avLst>
              <a:gd fmla="val 192000" name="adj"/>
            </a:avLst>
          </a:prstGeom>
          <a:solidFill>
            <a:srgbClr val="1A36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1312244" y="1822252"/>
            <a:ext cx="11871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1110801" y="2460427"/>
            <a:ext cx="52144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ZOUBIR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1073457" y="2837557"/>
            <a:ext cx="596137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17 commits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555498" y="3226147"/>
            <a:ext cx="1632204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Architecture, WC 2022, coordination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/>
          <p:nvPr/>
        </p:nvSpPr>
        <p:spPr>
          <a:xfrm>
            <a:off x="2514600" y="1600349"/>
            <a:ext cx="1981200" cy="2036266"/>
          </a:xfrm>
          <a:prstGeom prst="roundRect">
            <a:avLst>
              <a:gd fmla="val 3846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3267075" y="1790849"/>
            <a:ext cx="476250" cy="476250"/>
          </a:xfrm>
          <a:prstGeom prst="roundRect">
            <a:avLst>
              <a:gd fmla="val 192000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3434916" y="1895624"/>
            <a:ext cx="14041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9"/>
          <p:cNvSpPr/>
          <p:nvPr/>
        </p:nvSpPr>
        <p:spPr>
          <a:xfrm>
            <a:off x="3229371" y="2533799"/>
            <a:ext cx="55165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ROMAIN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3207057" y="2910929"/>
            <a:ext cx="596137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14 commits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9"/>
          <p:cNvSpPr/>
          <p:nvPr/>
        </p:nvSpPr>
        <p:spPr>
          <a:xfrm>
            <a:off x="2798397" y="3299520"/>
            <a:ext cx="1413605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Normalisation, BDD, analytics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/>
          <p:nvPr/>
        </p:nvSpPr>
        <p:spPr>
          <a:xfrm>
            <a:off x="4648200" y="1600349"/>
            <a:ext cx="1981200" cy="2036266"/>
          </a:xfrm>
          <a:prstGeom prst="roundRect">
            <a:avLst>
              <a:gd fmla="val 3846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5400675" y="1790849"/>
            <a:ext cx="476250" cy="476250"/>
          </a:xfrm>
          <a:prstGeom prst="roundRect">
            <a:avLst>
              <a:gd fmla="val 192000" name="adj"/>
            </a:avLst>
          </a:prstGeom>
          <a:solidFill>
            <a:srgbClr val="1A36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5573979" y="1895624"/>
            <a:ext cx="12964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9"/>
          <p:cNvSpPr/>
          <p:nvPr/>
        </p:nvSpPr>
        <p:spPr>
          <a:xfrm>
            <a:off x="5381795" y="2533799"/>
            <a:ext cx="51401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SABINE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5373142" y="2910929"/>
            <a:ext cx="53131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7 commits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4826949" y="3299520"/>
            <a:ext cx="1623703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Extract/Transform 2018, validation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/>
          <p:nvPr/>
        </p:nvSpPr>
        <p:spPr>
          <a:xfrm>
            <a:off x="6781800" y="1600349"/>
            <a:ext cx="1981200" cy="2036266"/>
          </a:xfrm>
          <a:prstGeom prst="roundRect">
            <a:avLst>
              <a:gd fmla="val 3846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9"/>
          <p:cNvSpPr/>
          <p:nvPr/>
        </p:nvSpPr>
        <p:spPr>
          <a:xfrm>
            <a:off x="7534275" y="1790849"/>
            <a:ext cx="476250" cy="476250"/>
          </a:xfrm>
          <a:prstGeom prst="roundRect">
            <a:avLst>
              <a:gd fmla="val 192000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9"/>
          <p:cNvSpPr/>
          <p:nvPr/>
        </p:nvSpPr>
        <p:spPr>
          <a:xfrm>
            <a:off x="7659002" y="1895624"/>
            <a:ext cx="22679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9"/>
          <p:cNvSpPr/>
          <p:nvPr/>
        </p:nvSpPr>
        <p:spPr>
          <a:xfrm>
            <a:off x="7689211" y="2533799"/>
            <a:ext cx="16637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JS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9"/>
          <p:cNvSpPr/>
          <p:nvPr/>
        </p:nvSpPr>
        <p:spPr>
          <a:xfrm>
            <a:off x="7506742" y="2910929"/>
            <a:ext cx="53131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6 commits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9"/>
          <p:cNvSpPr/>
          <p:nvPr/>
        </p:nvSpPr>
        <p:spPr>
          <a:xfrm>
            <a:off x="7017780" y="3299520"/>
            <a:ext cx="150909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Extraction historique 1930-2010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9"/>
          <p:cNvSpPr/>
          <p:nvPr/>
        </p:nvSpPr>
        <p:spPr>
          <a:xfrm>
            <a:off x="297180" y="4741664"/>
            <a:ext cx="854964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Formation Data Engineering • Simplon • Décembre 2025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0"/>
          <p:cNvSpPr/>
          <p:nvPr/>
        </p:nvSpPr>
        <p:spPr>
          <a:xfrm>
            <a:off x="3026021" y="507884"/>
            <a:ext cx="30921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Georgia"/>
              <a:buNone/>
            </a:pPr>
            <a:r>
              <a:rPr lang="en-US" sz="3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92 ans d'histoire,</a:t>
            </a:r>
            <a:br>
              <a:rPr lang="en-US" sz="3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lang="en-US" sz="3300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une seule vérité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0"/>
          <p:cNvSpPr/>
          <p:nvPr/>
        </p:nvSpPr>
        <p:spPr>
          <a:xfrm>
            <a:off x="4167563" y="1541533"/>
            <a:ext cx="7620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0"/>
          <p:cNvSpPr/>
          <p:nvPr/>
        </p:nvSpPr>
        <p:spPr>
          <a:xfrm>
            <a:off x="2912588" y="2622577"/>
            <a:ext cx="9207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400"/>
              <a:buFont typeface="Georgia"/>
              <a:buNone/>
            </a:pPr>
            <a:r>
              <a:rPr lang="en-US" sz="2400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7 446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0"/>
          <p:cNvSpPr/>
          <p:nvPr/>
        </p:nvSpPr>
        <p:spPr>
          <a:xfrm>
            <a:off x="3295707" y="3239767"/>
            <a:ext cx="375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matchs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0"/>
          <p:cNvSpPr/>
          <p:nvPr/>
        </p:nvSpPr>
        <p:spPr>
          <a:xfrm>
            <a:off x="4067018" y="2622577"/>
            <a:ext cx="6024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400"/>
              <a:buFont typeface="Georgia"/>
              <a:buNone/>
            </a:pPr>
            <a:r>
              <a:rPr lang="en-US" sz="2400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226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4231814" y="3239767"/>
            <a:ext cx="4086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équipes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5087353" y="2622575"/>
            <a:ext cx="4149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400"/>
              <a:buFont typeface="Georgia"/>
              <a:buNone/>
            </a:pPr>
            <a:r>
              <a:rPr lang="en-US" sz="2400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22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0"/>
          <p:cNvSpPr/>
          <p:nvPr/>
        </p:nvSpPr>
        <p:spPr>
          <a:xfrm>
            <a:off x="5041801" y="3239767"/>
            <a:ext cx="4020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éditions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/>
          <p:nvPr/>
        </p:nvSpPr>
        <p:spPr>
          <a:xfrm>
            <a:off x="5946562" y="2622577"/>
            <a:ext cx="1554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400"/>
              <a:buFont typeface="Georgia"/>
              <a:buNone/>
            </a:pPr>
            <a:r>
              <a:rPr lang="en-US" sz="2400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0"/>
          <p:cNvSpPr/>
          <p:nvPr/>
        </p:nvSpPr>
        <p:spPr>
          <a:xfrm>
            <a:off x="5816769" y="3239767"/>
            <a:ext cx="414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doublon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/>
          <p:nvPr/>
        </p:nvSpPr>
        <p:spPr>
          <a:xfrm>
            <a:off x="3580475" y="3869332"/>
            <a:ext cx="1983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Merci pour votre attention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/>
          <p:nvPr/>
        </p:nvSpPr>
        <p:spPr>
          <a:xfrm>
            <a:off x="4084315" y="4452143"/>
            <a:ext cx="9756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 questions 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2025-12-18T09:40:33Z</dcterms:created>
  <dc:creator>Short Kings</dc:creator>
</cp:coreProperties>
</file>